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4"/>
  </p:sldMasterIdLst>
  <p:notesMasterIdLst>
    <p:notesMasterId r:id="rId14"/>
  </p:notesMasterIdLst>
  <p:sldIdLst>
    <p:sldId id="271" r:id="rId5"/>
    <p:sldId id="300" r:id="rId6"/>
    <p:sldId id="306" r:id="rId7"/>
    <p:sldId id="307" r:id="rId8"/>
    <p:sldId id="308" r:id="rId9"/>
    <p:sldId id="309" r:id="rId10"/>
    <p:sldId id="312" r:id="rId11"/>
    <p:sldId id="301" r:id="rId12"/>
    <p:sldId id="30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7" autoAdjust="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968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798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41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66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263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9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177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884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765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433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4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96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675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0756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11D51461-FD58-D2EA-82C5-D24B223E11B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F866BB4-E3D7-F19E-E650-A131809A3E35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E3CE62-6178-6CD9-9BAF-0352AAC72C8A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CD6443C-48CA-7267-C051-C7BB19E8E0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D86357-3811-E118-1A2B-C6098472960B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1036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hyperlink" Target="https://openclipart.org/detail/104197/calendrier--calendar-by-lmproulx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104197/calendrier--calendar-by-lmproulx" TargetMode="External"/><Relationship Id="rId3" Type="http://schemas.openxmlformats.org/officeDocument/2006/relationships/image" Target="../media/image5.sv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104197/calendrier--calendar-by-lmproulx" TargetMode="External"/><Relationship Id="rId3" Type="http://schemas.openxmlformats.org/officeDocument/2006/relationships/image" Target="../media/image5.sv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6263" y="23628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3688390" y="652764"/>
            <a:ext cx="4570738" cy="678327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6" name="Google Shape;476;p16"/>
          <p:cNvSpPr txBox="1"/>
          <p:nvPr/>
        </p:nvSpPr>
        <p:spPr>
          <a:xfrm>
            <a:off x="1632956" y="1927635"/>
            <a:ext cx="8681606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PROTOTYPE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Adaptive Traffic System using STM32</a:t>
            </a:r>
            <a:endParaRPr lang="en-US" sz="32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3715129" y="612744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Agency FB" panose="020B0503020202020204" pitchFamily="34" charset="0"/>
                <a:cs typeface="Poppins" pitchFamily="2" charset="77"/>
              </a:rPr>
              <a:t>Department of ECE 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6343822" y="4265971"/>
            <a:ext cx="4906328" cy="2522682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endParaRPr lang="en-US" sz="2400" dirty="0">
              <a:solidFill>
                <a:schemeClr val="lt1"/>
              </a:solidFill>
              <a:latin typeface="Tw Cen MT Condensed" panose="020B0606020104020203" pitchFamily="34" charset="0"/>
              <a:ea typeface="Calibri"/>
              <a:cs typeface="Poppins" panose="00000500000000000000" pitchFamily="2" charset="0"/>
              <a:sym typeface="Calibri"/>
            </a:endParaRPr>
          </a:p>
          <a:p>
            <a:pPr lvl="0" algn="ctr"/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PRESENTED BY:-</a:t>
            </a:r>
          </a:p>
          <a:p>
            <a:pPr lvl="0"/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           2300040011      </a:t>
            </a:r>
            <a:r>
              <a:rPr lang="en-US" sz="2400" dirty="0" err="1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J.Vinay</a:t>
            </a:r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 Kumar</a:t>
            </a:r>
          </a:p>
          <a:p>
            <a:pPr lvl="0"/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           2300040042      </a:t>
            </a:r>
            <a:r>
              <a:rPr lang="en-US" sz="2400" dirty="0" err="1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N.Hema</a:t>
            </a:r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 Sundhar</a:t>
            </a:r>
          </a:p>
          <a:p>
            <a:pPr lvl="0"/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           2300040133      </a:t>
            </a:r>
            <a:r>
              <a:rPr lang="en-US" sz="2400" dirty="0" err="1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V.Kumar</a:t>
            </a:r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 Raja</a:t>
            </a:r>
          </a:p>
          <a:p>
            <a:pPr lvl="0" algn="ctr"/>
            <a:endParaRPr lang="en-US" sz="2400" dirty="0">
              <a:solidFill>
                <a:schemeClr val="lt1"/>
              </a:solidFill>
              <a:latin typeface="Tw Cen MT Condensed" panose="020B0606020104020203" pitchFamily="34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3374" y="183077"/>
            <a:ext cx="2509863" cy="1061599"/>
          </a:xfrm>
          <a:prstGeom prst="rect">
            <a:avLst/>
          </a:prstGeom>
          <a:noFill/>
        </p:spPr>
      </p:pic>
      <p:sp>
        <p:nvSpPr>
          <p:cNvPr id="3" name="Google Shape;502;p17">
            <a:extLst>
              <a:ext uri="{FF2B5EF4-FFF2-40B4-BE49-F238E27FC236}">
                <a16:creationId xmlns:a16="http://schemas.microsoft.com/office/drawing/2014/main" id="{69EB8789-8FFB-3760-54FE-61C28F603F16}"/>
              </a:ext>
            </a:extLst>
          </p:cNvPr>
          <p:cNvSpPr/>
          <p:nvPr/>
        </p:nvSpPr>
        <p:spPr>
          <a:xfrm>
            <a:off x="617885" y="4152241"/>
            <a:ext cx="4906328" cy="2522682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GUIDED BY:-</a:t>
            </a:r>
          </a:p>
          <a:p>
            <a:pPr lvl="0" algn="ctr"/>
            <a:r>
              <a:rPr lang="en-US" sz="2400" dirty="0" err="1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Dr.N.PRABAKARAN</a:t>
            </a:r>
            <a:b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</a:br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Associate Professor</a:t>
            </a:r>
            <a:b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</a:br>
            <a:r>
              <a:rPr lang="en-US" sz="2400" dirty="0">
                <a:solidFill>
                  <a:schemeClr val="lt1"/>
                </a:solidFill>
                <a:latin typeface="Tw Cen MT Condensed" panose="020B0606020104020203" pitchFamily="34" charset="0"/>
                <a:ea typeface="Calibri"/>
                <a:cs typeface="Poppins" panose="00000500000000000000" pitchFamily="2" charset="0"/>
                <a:sym typeface="Calibri"/>
              </a:rPr>
              <a:t>Dept of ECE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114563" y="381453"/>
            <a:ext cx="3846718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Objective</a:t>
            </a:r>
            <a:endParaRPr lang="en-US" sz="2400" dirty="0">
              <a:latin typeface="Agency FB" panose="020B0503020202020204" pitchFamily="34" charset="0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053" y="1372388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78189" y="1278728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3730" y="172075"/>
            <a:ext cx="1990725" cy="600076"/>
          </a:xfrm>
          <a:prstGeom prst="rect">
            <a:avLst/>
          </a:prstGeom>
          <a:noFill/>
        </p:spPr>
      </p:pic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/>
        </p:nvSpPr>
        <p:spPr>
          <a:xfrm>
            <a:off x="1918665" y="1232730"/>
            <a:ext cx="7720235" cy="4481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FDF1180-A8DA-9BC5-3609-BDC53A0ECB2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09157" y="4224324"/>
            <a:ext cx="1055356" cy="1061994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FC1E6B17-27B6-F654-A1DE-CC9185B6A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4513" y="2974581"/>
            <a:ext cx="9385736" cy="56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3B2839-B883-A0EA-36E3-AB702FE3628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49202" y="1872366"/>
            <a:ext cx="8577440" cy="2815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smart traffic control system using STM32.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traffic congestion using adaptive timing.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prioritize emergency vehicles automatically.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road safety.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efficiency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052630" y="429977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Problem Statement</a:t>
            </a:r>
            <a:endParaRPr lang="en-US" sz="2400" dirty="0">
              <a:latin typeface="Agency FB" panose="020B0503020202020204" pitchFamily="34" charset="0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334" y="820675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77600" y="452853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97974" y="152815"/>
            <a:ext cx="1990725" cy="600076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BB7335-B363-2010-15DF-274D9FE5DCF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97974" y="5170680"/>
            <a:ext cx="1055356" cy="106199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9ECAE0B-B3B4-1B56-54AB-4D5A7BCBD37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53563" y="1970720"/>
            <a:ext cx="1042219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Fixed-time traffic </a:t>
            </a:r>
            <a:r>
              <a:rPr lang="en-GB" sz="2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signals cause unnecessary delays.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congestion during peak hours.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fuel consumption and pollution.</a:t>
            </a:r>
            <a:endParaRPr lang="en-GB" sz="28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69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27" y="1463818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92798" y="1249628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111687" y="957299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Hardware &amp; Software Tools</a:t>
            </a:r>
            <a:endParaRPr lang="en-US" sz="2400" dirty="0">
              <a:latin typeface="Agency FB" panose="020B0503020202020204" pitchFamily="34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93287" y="265471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C05DA6-F906-58A0-B783-9F6EBCD019A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660971" y="4405930"/>
            <a:ext cx="1055356" cy="106199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CE4D1C9-D307-D994-02C3-EC7ED8412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84" y="80805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003371-AF9D-025E-9EBB-8285766F8B43}"/>
              </a:ext>
            </a:extLst>
          </p:cNvPr>
          <p:cNvSpPr txBox="1"/>
          <p:nvPr/>
        </p:nvSpPr>
        <p:spPr>
          <a:xfrm>
            <a:off x="2686758" y="1706828"/>
            <a:ext cx="723090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 Microcontroller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Signal LEDs (Red, Yellow, Green)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Display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Wires &amp; Breadboard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components: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STM32CubeIDE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C Program</a:t>
            </a:r>
          </a:p>
        </p:txBody>
      </p:sp>
    </p:spTree>
    <p:extLst>
      <p:ext uri="{BB962C8B-B14F-4D97-AF65-F5344CB8AC3E}">
        <p14:creationId xmlns:p14="http://schemas.microsoft.com/office/powerpoint/2010/main" val="2499396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872261" y="600076"/>
            <a:ext cx="4007404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Block Diagram</a:t>
            </a:r>
            <a:endParaRPr lang="en-US" sz="2400" dirty="0">
              <a:latin typeface="Agency FB" panose="020B0503020202020204" pitchFamily="34" charset="0"/>
            </a:endParaRP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080" y="193040"/>
            <a:ext cx="1990725" cy="600076"/>
          </a:xfrm>
          <a:prstGeom prst="rect">
            <a:avLst/>
          </a:prstGeom>
          <a:noFill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9880544-BECD-C3C2-D468-570C94C2FFF0}"/>
              </a:ext>
            </a:extLst>
          </p:cNvPr>
          <p:cNvSpPr/>
          <p:nvPr/>
        </p:nvSpPr>
        <p:spPr>
          <a:xfrm>
            <a:off x="545011" y="2643430"/>
            <a:ext cx="1390650" cy="10191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 Sensors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4F0111-A453-B053-F336-BC0C62C961D4}"/>
              </a:ext>
            </a:extLst>
          </p:cNvPr>
          <p:cNvSpPr/>
          <p:nvPr/>
        </p:nvSpPr>
        <p:spPr>
          <a:xfrm>
            <a:off x="3179795" y="2563318"/>
            <a:ext cx="1528200" cy="10572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STM32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Controller</a:t>
            </a:r>
            <a:r>
              <a:rPr lang="en-US" dirty="0"/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10E238-D683-9FAC-B216-6CD52A8E7C95}"/>
              </a:ext>
            </a:extLst>
          </p:cNvPr>
          <p:cNvSpPr/>
          <p:nvPr/>
        </p:nvSpPr>
        <p:spPr>
          <a:xfrm>
            <a:off x="5875963" y="2510443"/>
            <a:ext cx="2457450" cy="109537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Traffic Lights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F81D9D-D7CC-E2CD-CC0D-BDB9EF89E851}"/>
              </a:ext>
            </a:extLst>
          </p:cNvPr>
          <p:cNvSpPr/>
          <p:nvPr/>
        </p:nvSpPr>
        <p:spPr>
          <a:xfrm>
            <a:off x="9542664" y="2510443"/>
            <a:ext cx="2522142" cy="9896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LCD Display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13B28DB-A661-2EA5-A712-2AA507F6C62F}"/>
              </a:ext>
            </a:extLst>
          </p:cNvPr>
          <p:cNvSpPr/>
          <p:nvPr/>
        </p:nvSpPr>
        <p:spPr>
          <a:xfrm>
            <a:off x="2095765" y="2991092"/>
            <a:ext cx="923925" cy="3238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72265E8-7C4C-C3DC-631F-68C64617692C}"/>
              </a:ext>
            </a:extLst>
          </p:cNvPr>
          <p:cNvSpPr/>
          <p:nvPr/>
        </p:nvSpPr>
        <p:spPr>
          <a:xfrm>
            <a:off x="8476076" y="2896205"/>
            <a:ext cx="923925" cy="3238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6343AD8-B4D0-94D8-4875-B653D20CB5B6}"/>
              </a:ext>
            </a:extLst>
          </p:cNvPr>
          <p:cNvSpPr/>
          <p:nvPr/>
        </p:nvSpPr>
        <p:spPr>
          <a:xfrm>
            <a:off x="4809375" y="2930030"/>
            <a:ext cx="923925" cy="3238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3727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17">
            <a:extLst>
              <a:ext uri="{FF2B5EF4-FFF2-40B4-BE49-F238E27FC236}">
                <a16:creationId xmlns:a16="http://schemas.microsoft.com/office/drawing/2014/main" id="{D28ACAF4-F071-053E-4FCB-7A2EAC0C072B}"/>
              </a:ext>
            </a:extLst>
          </p:cNvPr>
          <p:cNvSpPr/>
          <p:nvPr/>
        </p:nvSpPr>
        <p:spPr>
          <a:xfrm>
            <a:off x="4125651" y="600076"/>
            <a:ext cx="3376361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Methodology </a:t>
            </a:r>
            <a:endParaRPr lang="en-US" sz="2400" dirty="0">
              <a:latin typeface="Agency FB" panose="020B0503020202020204" pitchFamily="34" charset="0"/>
            </a:endParaRPr>
          </a:p>
        </p:txBody>
      </p:sp>
      <p:pic>
        <p:nvPicPr>
          <p:cNvPr id="24" name="Picture 2" descr="KL Deemed to be University Logo">
            <a:extLst>
              <a:ext uri="{FF2B5EF4-FFF2-40B4-BE49-F238E27FC236}">
                <a16:creationId xmlns:a16="http://schemas.microsoft.com/office/drawing/2014/main" id="{BA8EC1FE-C5DE-019C-AE44-17184D0AE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3287" y="265471"/>
            <a:ext cx="1990725" cy="600076"/>
          </a:xfrm>
          <a:prstGeom prst="rect">
            <a:avLst/>
          </a:prstGeom>
          <a:noFill/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82F0139-A04C-EFAC-247E-E4633C9A63AE}"/>
              </a:ext>
            </a:extLst>
          </p:cNvPr>
          <p:cNvSpPr txBox="1"/>
          <p:nvPr/>
        </p:nvSpPr>
        <p:spPr>
          <a:xfrm>
            <a:off x="2480310" y="1940528"/>
            <a:ext cx="60944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Detect vehicle density using sensors.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Send sensor data to STM32.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Analyzes traffic density.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Adjust signal timing dynamically.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Repeat process continuously.</a:t>
            </a:r>
          </a:p>
        </p:txBody>
      </p:sp>
    </p:spTree>
    <p:extLst>
      <p:ext uri="{BB962C8B-B14F-4D97-AF65-F5344CB8AC3E}">
        <p14:creationId xmlns:p14="http://schemas.microsoft.com/office/powerpoint/2010/main" val="541659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4406642" y="600076"/>
            <a:ext cx="271251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Flowchart</a:t>
            </a:r>
            <a:endParaRPr lang="en-US" sz="2400" dirty="0">
              <a:latin typeface="Agency FB" panose="020B0503020202020204" pitchFamily="34" charset="0"/>
            </a:endParaRP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080" y="190563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3028FD-A5C2-4967-ED81-FC839DD92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991" y="1330798"/>
            <a:ext cx="4218774" cy="500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26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560" y="206146"/>
            <a:ext cx="1990725" cy="600076"/>
          </a:xfrm>
          <a:prstGeom prst="rect">
            <a:avLst/>
          </a:prstGeom>
          <a:noFill/>
        </p:spPr>
      </p:pic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740410" y="600076"/>
            <a:ext cx="4568940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Conclusion </a:t>
            </a:r>
            <a:endParaRPr lang="en-US" sz="2400" dirty="0">
              <a:latin typeface="Agency FB" panose="020B05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57F94D-869C-3AC4-BE0F-ACE755AE60CB}"/>
              </a:ext>
            </a:extLst>
          </p:cNvPr>
          <p:cNvSpPr txBox="1"/>
          <p:nvPr/>
        </p:nvSpPr>
        <p:spPr>
          <a:xfrm>
            <a:off x="2642616" y="2067561"/>
            <a:ext cx="8067040" cy="2181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Smart adaptive system reduces congestion.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Efficient use of traffic signal timing.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Saves fuel and reduces pollution.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Can be extended with IoT and AI features.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lose-up of water droplet on a leaf">
            <a:extLst>
              <a:ext uri="{FF2B5EF4-FFF2-40B4-BE49-F238E27FC236}">
                <a16:creationId xmlns:a16="http://schemas.microsoft.com/office/drawing/2014/main" id="{BE1F3FF1-7490-5AF2-82FC-F180A7F089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2" r="7802"/>
          <a:stretch/>
        </p:blipFill>
        <p:spPr>
          <a:xfrm>
            <a:off x="0" y="3250970"/>
            <a:ext cx="5411864" cy="3607029"/>
          </a:xfrm>
          <a:prstGeom prst="rect">
            <a:avLst/>
          </a:prstGeom>
        </p:spPr>
      </p:pic>
      <p:pic>
        <p:nvPicPr>
          <p:cNvPr id="3" name="Picture 2" descr="Abstract render of glass nodes and mesh">
            <a:extLst>
              <a:ext uri="{FF2B5EF4-FFF2-40B4-BE49-F238E27FC236}">
                <a16:creationId xmlns:a16="http://schemas.microsoft.com/office/drawing/2014/main" id="{A8E88C5D-D746-457B-2977-4C697E77A8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" b="537"/>
          <a:stretch/>
        </p:blipFill>
        <p:spPr>
          <a:xfrm>
            <a:off x="6668801" y="0"/>
            <a:ext cx="5523199" cy="3607029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1988658" y="1987061"/>
            <a:ext cx="7920111" cy="2883877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gency FB" panose="020B0503020202020204" pitchFamily="34" charset="0"/>
                <a:cs typeface="Poppins" pitchFamily="2" charset="77"/>
              </a:rPr>
              <a:t>THANK YOU</a:t>
            </a:r>
          </a:p>
          <a:p>
            <a:pPr algn="ctr"/>
            <a:endParaRPr lang="en-US" sz="2800" dirty="0">
              <a:solidFill>
                <a:schemeClr val="tx1"/>
              </a:solidFill>
              <a:latin typeface="Agency FB" panose="020B0503020202020204" pitchFamily="34" charset="0"/>
              <a:cs typeface="Poppins" pitchFamily="2" charset="77"/>
            </a:endParaRPr>
          </a:p>
          <a:p>
            <a:pPr algn="ctr"/>
            <a:endParaRPr lang="en-US" sz="2800" dirty="0">
              <a:solidFill>
                <a:schemeClr val="tx1"/>
              </a:solidFill>
              <a:latin typeface="Agency FB" panose="020B0503020202020204" pitchFamily="34" charset="0"/>
              <a:cs typeface="Poppins" pitchFamily="2" charset="77"/>
            </a:endParaRPr>
          </a:p>
          <a:p>
            <a:pPr algn="ctr"/>
            <a:endParaRPr lang="en-US" sz="2800" dirty="0">
              <a:solidFill>
                <a:schemeClr val="tx1"/>
              </a:solidFill>
              <a:latin typeface="Agency FB" panose="020B0503020202020204" pitchFamily="34" charset="0"/>
              <a:cs typeface="Poppins" pitchFamily="2" charset="77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PROTOTYPE</a:t>
            </a: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39187" y="2812497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040adea-6839-447d-bd0d-6d532fe2a03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2519431157564F9201AF4BC2FEACD3" ma:contentTypeVersion="6" ma:contentTypeDescription="Create a new document." ma:contentTypeScope="" ma:versionID="8073f79857fadeec545986a1825fc259">
  <xsd:schema xmlns:xsd="http://www.w3.org/2001/XMLSchema" xmlns:xs="http://www.w3.org/2001/XMLSchema" xmlns:p="http://schemas.microsoft.com/office/2006/metadata/properties" xmlns:ns3="2040adea-6839-447d-bd0d-6d532fe2a037" targetNamespace="http://schemas.microsoft.com/office/2006/metadata/properties" ma:root="true" ma:fieldsID="a6740e22eac9a6061b8ba45743d3bc8b" ns3:_="">
    <xsd:import namespace="2040adea-6839-447d-bd0d-6d532fe2a03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40adea-6839-447d-bd0d-6d532fe2a03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BD0A98-E68B-4DAA-8964-2F739D6D4075}">
  <ds:schemaRefs>
    <ds:schemaRef ds:uri="http://www.w3.org/XML/1998/namespace"/>
    <ds:schemaRef ds:uri="http://purl.org/dc/elements/1.1/"/>
    <ds:schemaRef ds:uri="2040adea-6839-447d-bd0d-6d532fe2a037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CCC00CD-EA79-4086-89DF-CE795347B1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40adea-6839-447d-bd0d-6d532fe2a0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711</TotalTime>
  <Words>211</Words>
  <Application>Microsoft Office PowerPoint</Application>
  <PresentationFormat>Widescreen</PresentationFormat>
  <Paragraphs>59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Agency FB</vt:lpstr>
      <vt:lpstr>Arial</vt:lpstr>
      <vt:lpstr>Calibri</vt:lpstr>
      <vt:lpstr>Calibri Light</vt:lpstr>
      <vt:lpstr>Poppins</vt:lpstr>
      <vt:lpstr>Times New Roman</vt:lpstr>
      <vt:lpstr>Tw Cen MT Condensed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JOGI VINAY KUMAR</cp:lastModifiedBy>
  <cp:revision>54</cp:revision>
  <dcterms:created xsi:type="dcterms:W3CDTF">2020-02-08T09:57:44Z</dcterms:created>
  <dcterms:modified xsi:type="dcterms:W3CDTF">2026-03-01T04:43:33Z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0x010100A12519431157564F9201AF4BC2FEACD3</vt:lpwstr>
  </property>
</Properties>
</file>